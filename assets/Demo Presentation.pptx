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7"/>
  </p:notesMasterIdLst>
  <p:handoutMasterIdLst>
    <p:handoutMasterId r:id="rId8"/>
  </p:handoutMasterIdLst>
  <p:sldIdLst>
    <p:sldId id="258" r:id="rId2"/>
    <p:sldId id="259" r:id="rId3"/>
    <p:sldId id="263" r:id="rId4"/>
    <p:sldId id="261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9" d="100"/>
          <a:sy n="79" d="100"/>
        </p:scale>
        <p:origin x="249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6F081-8781-4431-8FD4-2CF608CD7C47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E42EF-B2A2-4428-A098-E6934E2840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190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CA47C-B7FD-4BE9-B0E6-81BA758D95F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3716F0-385D-4F6E-BE54-A09D410D2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26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716F0-385D-4F6E-BE54-A09D410D24C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46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4343400"/>
            <a:ext cx="10363200" cy="1975104"/>
          </a:xfrm>
        </p:spPr>
        <p:txBody>
          <a:bodyPr/>
          <a:lstStyle>
            <a:lvl1pPr marR="9144" algn="l">
              <a:defRPr sz="4000" b="1" cap="all" spc="0" baseline="0">
                <a:solidFill>
                  <a:schemeClr val="tx2"/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2834640"/>
            <a:ext cx="10363200" cy="1508760"/>
          </a:xfrm>
        </p:spPr>
        <p:txBody>
          <a:bodyPr lIns="100584" tIns="45720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24136-D290-48F3-A182-4C46BEB5146B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47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A9F4F-03AD-4497-A65D-076601BD41D2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87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536" y="512064"/>
            <a:ext cx="10875264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536" y="1351672"/>
            <a:ext cx="7624064" cy="977486"/>
          </a:xfrm>
        </p:spPr>
        <p:txBody>
          <a:bodyPr lIns="82296" tIns="45720" bIns="0" anchor="t"/>
          <a:lstStyle>
            <a:lvl1pPr marL="5486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BF3AC-A781-43AA-8BD5-B12F49168B94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061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2064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7125" y="17705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56A41-C91B-43FF-9881-F5DA9878418F}" type="datetime1">
              <a:rPr lang="en-US" smtClean="0"/>
              <a:t>11/21/2025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0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099" y="512064"/>
            <a:ext cx="10363200" cy="914400"/>
          </a:xfrm>
        </p:spPr>
        <p:txBody>
          <a:bodyPr anchor="t"/>
          <a:lstStyle>
            <a:lvl1pPr>
              <a:defRPr sz="40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09750"/>
            <a:ext cx="5386917" cy="639762"/>
          </a:xfrm>
        </p:spPr>
        <p:txBody>
          <a:bodyPr anchor="ctr"/>
          <a:lstStyle>
            <a:lvl1pPr marL="73152" indent="0" algn="l">
              <a:buNone/>
              <a:defRPr sz="2400" b="0">
                <a:solidFill>
                  <a:schemeClr val="accent3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459037"/>
            <a:ext cx="5386917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09750"/>
            <a:ext cx="5389033" cy="639762"/>
          </a:xfrm>
        </p:spPr>
        <p:txBody>
          <a:bodyPr anchor="ctr"/>
          <a:lstStyle>
            <a:lvl1pPr marL="73152" indent="0">
              <a:buNone/>
              <a:defRPr sz="2400" b="0">
                <a:solidFill>
                  <a:schemeClr val="accent3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459037"/>
            <a:ext cx="5389033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7AA76-41EE-4C13-950E-E611B8B8FC52}" type="datetime1">
              <a:rPr lang="en-US" smtClean="0"/>
              <a:t>11/21/2025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6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</p:spPr>
        <p:txBody>
          <a:bodyPr/>
          <a:lstStyle>
            <a:lvl1pPr>
              <a:defRPr sz="4000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07A26-E7BC-4498-97E4-87AF12377CA9}" type="datetime1">
              <a:rPr lang="en-US" smtClean="0"/>
              <a:t>11/21/2025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1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A4171-1117-4486-993C-35A7470D8847}" type="datetime1">
              <a:rPr lang="en-US" smtClean="0"/>
              <a:t>11/21/2025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9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10972800" cy="1162050"/>
          </a:xfrm>
        </p:spPr>
        <p:txBody>
          <a:bodyPr anchor="ctr"/>
          <a:lstStyle>
            <a:lvl1pPr algn="l">
              <a:buNone/>
              <a:defRPr sz="36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435100"/>
            <a:ext cx="3352800" cy="4572000"/>
          </a:xfrm>
        </p:spPr>
        <p:txBody>
          <a:bodyPr/>
          <a:lstStyle>
            <a:lvl1pPr marL="54864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0" y="1435100"/>
            <a:ext cx="73152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4CB8-1563-4663-81DB-74EB416C19BE}" type="datetime1">
              <a:rPr lang="en-US" smtClean="0"/>
              <a:t>11/21/2025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8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490709" y="0"/>
            <a:ext cx="11704320" cy="1878037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484260" y="1885028"/>
            <a:ext cx="11710163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 bwMode="grayWhite">
          <a:xfrm>
            <a:off x="1219200" y="441252"/>
            <a:ext cx="9144000" cy="701749"/>
          </a:xfrm>
        </p:spPr>
        <p:txBody>
          <a:bodyPr anchor="b"/>
          <a:lstStyle>
            <a:lvl1pPr algn="l">
              <a:buNone/>
              <a:defRPr sz="21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90709" y="1893781"/>
            <a:ext cx="11704320" cy="4960144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White">
          <a:xfrm>
            <a:off x="1219200" y="1150144"/>
            <a:ext cx="9144000" cy="685800"/>
          </a:xfrm>
        </p:spPr>
        <p:txBody>
          <a:bodyPr/>
          <a:lstStyle>
            <a:lvl1pPr marL="27432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55499"/>
            <a:ext cx="7416800" cy="365125"/>
          </a:xfrm>
        </p:spPr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636000" y="55499"/>
            <a:ext cx="2844800" cy="365125"/>
          </a:xfrm>
        </p:spPr>
        <p:txBody>
          <a:bodyPr/>
          <a:lstStyle/>
          <a:p>
            <a:fld id="{0C6724CE-2468-448B-87C1-A92EDD78369B}" type="datetime1">
              <a:rPr lang="en-US" smtClean="0"/>
              <a:t>11/21/2025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480800" y="55499"/>
            <a:ext cx="609600" cy="365125"/>
          </a:xfrm>
        </p:spPr>
        <p:txBody>
          <a:bodyPr/>
          <a:lstStyle>
            <a:lvl1pPr>
              <a:defRPr sz="1100"/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924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7D44C-38B1-4D0F-9006-D5774F331095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4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641600" cy="5851525"/>
          </a:xfrm>
        </p:spPr>
        <p:txBody>
          <a:bodyPr vert="eaVert"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0"/>
            <a:ext cx="78232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D518A-FD4F-4358-B95B-9DB5A17160FB}" type="datetime1">
              <a:rPr lang="en-US" smtClean="0"/>
              <a:t>11/21/2025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6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inv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103632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416676"/>
            <a:ext cx="74168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r>
              <a:rPr lang="en-US" dirty="0"/>
              <a:t>Add a footer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636000" y="6416676"/>
            <a:ext cx="28448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4CD11720-76E7-46E6-B0AA-057287C42052}" type="datetime1">
              <a:rPr lang="en-US" smtClean="0"/>
              <a:t>11/21/2025</a:t>
            </a:fld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1480800" y="6416676"/>
            <a:ext cx="609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54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NHrLTUVhxbk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Hedera </a:t>
            </a:r>
            <a:r>
              <a:rPr lang="en-US" dirty="0" err="1"/>
              <a:t>zk</a:t>
            </a:r>
            <a:r>
              <a:rPr lang="en-US" dirty="0"/>
              <a:t> voting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Tom Lin</a:t>
            </a:r>
          </a:p>
        </p:txBody>
      </p:sp>
    </p:spTree>
    <p:extLst>
      <p:ext uri="{BB962C8B-B14F-4D97-AF65-F5344CB8AC3E}">
        <p14:creationId xmlns:p14="http://schemas.microsoft.com/office/powerpoint/2010/main" val="176694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Privacy-preserving, tamper-proof, and verifiable voting system</a:t>
            </a:r>
          </a:p>
          <a:p>
            <a:pPr lvl="0"/>
            <a:r>
              <a:rPr lang="en-US" dirty="0"/>
              <a:t>Built on Hedera using zero-knowledge proofs (ZKP)</a:t>
            </a:r>
          </a:p>
          <a:p>
            <a:pPr lvl="0"/>
            <a:r>
              <a:rPr lang="en-US" dirty="0"/>
              <a:t>Public voter registry and private vote submissions published to two Hedera Consensus Service topics</a:t>
            </a:r>
          </a:p>
          <a:p>
            <a:pPr lvl="0"/>
            <a:r>
              <a:rPr lang="en-US" dirty="0"/>
              <a:t>Efficient Groth16 circuit guarantees voter eligibility and one-vote-per-person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31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053C9-12DF-F464-CF2F-354BF0916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580B5D6-772B-F0CD-FCD1-0864EF06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D4931D3-71D9-6F75-47BE-46965ED1B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590520"/>
            <a:ext cx="10363200" cy="45720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Frontend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Next.js 16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TypeScript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Tailwind CSS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Hedera Wallet Connect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0"/>
            <a:r>
              <a:rPr lang="en-US" dirty="0"/>
              <a:t>Backend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Hedera Consensus Service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Circom</a:t>
            </a:r>
            <a:r>
              <a:rPr lang="en-US" dirty="0"/>
              <a:t> 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snarkjs</a:t>
            </a:r>
            <a:r>
              <a:rPr lang="en-US" dirty="0"/>
              <a:t> (</a:t>
            </a:r>
            <a:r>
              <a:rPr lang="en-US" dirty="0" err="1"/>
              <a:t>Groth</a:t>
            </a:r>
            <a:r>
              <a:rPr lang="en-US" dirty="0"/>
              <a:t> 16)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Merkle Trees</a:t>
            </a:r>
          </a:p>
        </p:txBody>
      </p:sp>
    </p:spTree>
    <p:extLst>
      <p:ext uri="{BB962C8B-B14F-4D97-AF65-F5344CB8AC3E}">
        <p14:creationId xmlns:p14="http://schemas.microsoft.com/office/powerpoint/2010/main" val="126417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3359070" y="3140771"/>
            <a:ext cx="5473859" cy="576457"/>
          </a:xfrm>
        </p:spPr>
        <p:txBody>
          <a:bodyPr/>
          <a:lstStyle/>
          <a:p>
            <a:pPr marL="68580" indent="0" algn="ctr">
              <a:buNone/>
            </a:pPr>
            <a:r>
              <a:rPr lang="en-SG" u="sng" dirty="0">
                <a:hlinkClick r:id="rId2"/>
              </a:rPr>
              <a:t>https://youtu.be/NHrLTUVhxbk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81439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E07F5-0FA0-9A76-EB8A-5EC5AC817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9E7AE31-653B-6434-A576-5C1370102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Roadmap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A7EFD8B-2380-14A2-0C9E-CC68273D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Improve UI to support other wallet connectors like Blade, </a:t>
            </a:r>
            <a:r>
              <a:rPr lang="en-US" dirty="0" err="1"/>
              <a:t>Metamask</a:t>
            </a:r>
            <a:r>
              <a:rPr lang="en-US" dirty="0"/>
              <a:t> etc.</a:t>
            </a:r>
          </a:p>
          <a:p>
            <a:pPr lvl="0"/>
            <a:r>
              <a:rPr lang="en-US" dirty="0"/>
              <a:t>Multi-poll support with dynamic poll creation, independent Merkle trees, and independent nullifiers</a:t>
            </a:r>
          </a:p>
          <a:p>
            <a:pPr lvl="0"/>
            <a:r>
              <a:rPr lang="en-US" dirty="0"/>
              <a:t>Decentralized voter registry management using threshold signatures or DAO-controlled enrollment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78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ightfall design templat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5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ightfall design slides.potx" id="{1F21CAEF-9FBE-490C-A0F8-816FBEE90D46}" vid="{85D2A922-5EE5-4375-8B4A-B39999B15898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5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5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Nightfall design slides</Template>
  <TotalTime>123</TotalTime>
  <Words>120</Words>
  <Application>Microsoft Office PowerPoint</Application>
  <PresentationFormat>Widescreen</PresentationFormat>
  <Paragraphs>26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Wingdings</vt:lpstr>
      <vt:lpstr>Wingdings 2</vt:lpstr>
      <vt:lpstr>Wingdings 3</vt:lpstr>
      <vt:lpstr>Nightfall design template</vt:lpstr>
      <vt:lpstr>Hedera zk voting</vt:lpstr>
      <vt:lpstr>Project Overview</vt:lpstr>
      <vt:lpstr>Tech Stack</vt:lpstr>
      <vt:lpstr>Demo</vt:lpstr>
      <vt:lpstr>Future Roadmap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Lin, Tom Liqian</dc:creator>
  <cp:lastModifiedBy>Lin, Tom Liqian</cp:lastModifiedBy>
  <cp:revision>11</cp:revision>
  <dcterms:created xsi:type="dcterms:W3CDTF">2025-11-19T06:17:44Z</dcterms:created>
  <dcterms:modified xsi:type="dcterms:W3CDTF">2025-11-21T03:07:00Z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74064800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